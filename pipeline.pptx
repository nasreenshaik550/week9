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1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AD1B-EB71-5477-BC21-689B84D97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80A05-3A32-2F8B-FE00-28ABCCD8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B3241-A1EF-D017-85C9-089FD3C8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0858F-BE7B-87AA-1ECD-93287B26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4F425-D3B8-053F-356A-CDFD18E2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6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00C7-11E7-03CE-9F1B-C16AD0A3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B78BB-57E9-DEDA-227E-E92DCFF79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2803F-8377-F31E-A4D7-7B7FF9FE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7C267-1221-C04C-4827-3ECA822A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32B0F-B2B4-5AC5-D6F0-91D97C06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8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D9CA-8745-ECD1-86B5-D30AEFAC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9D6A3-CB46-DB1D-AF19-29C00FAEC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4F4-521C-749C-C8B9-EAD662955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E4191-3D93-F9B2-B4DE-77D250AB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0646F-C9CF-8F87-C38D-8C042ECA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22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4B12-0C4E-C220-2536-E1D661CB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B7560-DE31-8126-32E4-1DF98E8BE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464FE-0C08-FC50-67B6-DC65B5CFD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FB3D2-2FBF-435F-4C5D-69892366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77406-945E-ADB8-22EB-A87D6E98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93ABC-EFCB-7762-08AC-7F24983D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40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F23D-A288-353D-DB00-DDB510350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7BA63-6BB6-E756-F53F-D62BEA1A1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50E79-3CFB-2A47-67BF-D85324F06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29FE6D-4435-917E-6328-0C908053B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5542FC-2BC3-D0EB-D1C3-AF3B036DB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710E7-C7FB-994C-DF6F-720EC132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8A500A-65B4-479E-A0A6-77EE47A92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5EC1-4CEA-F029-CC37-AF43B7E1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540C-D25B-3831-04ED-D74EBC7C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8B7EC-41F6-7DA9-5D03-547E46A1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7B667-744D-58BB-AC66-C1283137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87FC2-4EA8-D4CC-3E4A-73060650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70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0298D-44E4-AEAC-B7C0-7D3FB009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D52DB-658F-14CD-C662-4766A877A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4F6AB-FDF0-C765-BE91-BBC2E2297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58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CC07-E32F-99AF-6B89-DB455983C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0F5AB-8553-7B44-38A8-72DA346C4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B6B4F-7D76-C53D-14A2-789E302DD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49AEC-1144-544D-8938-3F40E8D94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1E5F6-A295-8645-C26B-A25A3275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80D43-5AA4-E6CE-07C2-56D4923D7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9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7759C-FBBD-A197-E147-7172FBE3A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8A65D5-E99A-4E79-5024-D6FA2B6C0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97D49-7C93-F45E-5829-5AE145EF8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20BFB-6C4F-22D3-E211-56BB75C1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0C4C9-749F-EFCA-7BA5-764C2D75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F0D6D-4457-431F-AA75-20443974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68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8FA6D-1EA8-9B67-A8A3-9099F6049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016DE-B40B-A65F-63E5-1B32F622D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180F6-3179-A14A-7FFD-07AC35F32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1A4D8-F197-DFBD-87C5-7C01F0194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FE0D9-D1C5-BFF8-F292-463DA3650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8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31ED11-86ED-9439-50FC-6001D6AE02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C7BC9-F0CC-ED6A-CC56-32B7B84A8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7CE79-5720-0D5B-521C-98CDF11F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A2B17-E9AF-A046-99B6-6BA72291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889A3-60F4-0D5A-1FF9-FCE908BB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1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8C4A5-A041-5BE4-DCCB-27B34CDD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8F35E-A53D-3D6B-38BF-2286025AF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23A98-A29D-B9A1-304A-B56F29812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F92CC-514A-445B-A006-DAB8F444702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ACD8F-956B-4783-9105-715D5FCE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2DBF7-39A4-5DC1-CED7-1FCF45878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F70BC-1643-4BE9-BD0A-5FFC4E85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8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97F2-8B5D-5BC3-4368-A7863A40B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4FBD9-68FB-0DE9-ED9F-712EBB4A6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9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98A0BB-25E6-76ED-16C3-09F754672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067" y="0"/>
            <a:ext cx="533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5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7590-3342-27F1-E647-D8145725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0F38A-BFB4-0294-4CDA-C0BC3B23C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Jenkins Controller (Master):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Manages the Jenkins web UI. </a:t>
            </a:r>
          </a:p>
          <a:p>
            <a:pPr lvl="1"/>
            <a:r>
              <a:rPr lang="en-US" dirty="0"/>
              <a:t>Schedules and monitors jobs. </a:t>
            </a:r>
          </a:p>
          <a:p>
            <a:pPr lvl="1"/>
            <a:r>
              <a:rPr lang="en-US" dirty="0"/>
              <a:t>Assigns jobs to available agents. </a:t>
            </a:r>
          </a:p>
          <a:p>
            <a:pPr lvl="0"/>
            <a:r>
              <a:rPr lang="en-US" b="1" dirty="0"/>
              <a:t>Jenkins Agent: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Receives jobs from the controller. </a:t>
            </a:r>
          </a:p>
          <a:p>
            <a:pPr lvl="1"/>
            <a:r>
              <a:rPr lang="en-US" dirty="0"/>
              <a:t>Executes the build steps (compile code, run tests, create artifacts, deploy applications). </a:t>
            </a:r>
          </a:p>
          <a:p>
            <a:pPr lvl="1"/>
            <a:r>
              <a:rPr lang="en-US" dirty="0"/>
              <a:t>Sends the build status and logs back to the controller.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6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406C8-B3E2-19CE-D302-6666F54AA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12764-84C4-8758-E03F-DB1CBC0C4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agents provides several benefits:</a:t>
            </a:r>
          </a:p>
          <a:p>
            <a:pPr lvl="0"/>
            <a:r>
              <a:rPr lang="en-US" b="1" dirty="0"/>
              <a:t>Scalability:</a:t>
            </a:r>
            <a:r>
              <a:rPr lang="en-US" dirty="0"/>
              <a:t> Run multiple builds in parallel. </a:t>
            </a:r>
          </a:p>
          <a:p>
            <a:pPr lvl="0"/>
            <a:r>
              <a:rPr lang="en-US" b="1" dirty="0"/>
              <a:t>Platform support:</a:t>
            </a:r>
            <a:r>
              <a:rPr lang="en-US" dirty="0"/>
              <a:t> Use different operating systems (Linux, Windows, macOS) for different jobs. </a:t>
            </a:r>
          </a:p>
          <a:p>
            <a:pPr lvl="0"/>
            <a:r>
              <a:rPr lang="en-US" b="1" dirty="0"/>
              <a:t>Resource isolation:</a:t>
            </a:r>
            <a:r>
              <a:rPr lang="en-US" dirty="0"/>
              <a:t> Keep heavy build workloads off the controller. </a:t>
            </a:r>
          </a:p>
          <a:p>
            <a:pPr lvl="0"/>
            <a:r>
              <a:rPr lang="en-US" b="1" dirty="0"/>
              <a:t>Specialized environments:</a:t>
            </a:r>
            <a:r>
              <a:rPr lang="en-US" dirty="0"/>
              <a:t> Configure agents with specific tools like Java, Maven, Docker, Node.js, Android SDK,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79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F7E22-C37B-FD9A-A59D-E5B71551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6D162-4FA1-091D-5650-EFB046ED4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Jenkins script</a:t>
            </a:r>
            <a:r>
              <a:rPr lang="en-US" dirty="0"/>
              <a:t> usually refers to the </a:t>
            </a:r>
            <a:r>
              <a:rPr lang="en-US" b="1" dirty="0"/>
              <a:t>Pipeline script</a:t>
            </a:r>
            <a:r>
              <a:rPr lang="en-US" dirty="0"/>
              <a:t> written in </a:t>
            </a:r>
            <a:r>
              <a:rPr lang="en-US" b="1" dirty="0"/>
              <a:t>Groovy</a:t>
            </a:r>
            <a:r>
              <a:rPr lang="en-US" dirty="0"/>
              <a:t> that tells Jenkins </a:t>
            </a:r>
            <a:r>
              <a:rPr lang="en-US" b="1" dirty="0"/>
              <a:t>what steps to execute</a:t>
            </a:r>
            <a:r>
              <a:rPr lang="en-US" dirty="0"/>
              <a:t> during a CI/CD pipeline.</a:t>
            </a:r>
          </a:p>
          <a:p>
            <a:r>
              <a:rPr lang="en-US" dirty="0"/>
              <a:t>This script is typically stored in a file named </a:t>
            </a:r>
            <a:r>
              <a:rPr lang="en-US" b="1" dirty="0" err="1"/>
              <a:t>Jenkinsfile</a:t>
            </a:r>
            <a:r>
              <a:rPr lang="en-US" dirty="0"/>
              <a:t> in  project's source code repository. It is stored in the root of  Git repository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10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715F7-F5E1-05DE-7227-73F42E700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50" y="228600"/>
            <a:ext cx="11112500" cy="5117041"/>
          </a:xfrm>
        </p:spPr>
        <p:txBody>
          <a:bodyPr>
            <a:noAutofit/>
          </a:bodyPr>
          <a:lstStyle/>
          <a:p>
            <a:r>
              <a:rPr lang="en-US" sz="2200" b="1" dirty="0"/>
              <a:t>Basic structure of a Jenkins Pipeline script</a:t>
            </a:r>
          </a:p>
          <a:p>
            <a:pPr marL="1371600" lvl="3" indent="0">
              <a:buNone/>
            </a:pPr>
            <a:r>
              <a:rPr lang="en-US" sz="2200" dirty="0"/>
              <a:t>pipeline {</a:t>
            </a:r>
          </a:p>
          <a:p>
            <a:pPr marL="1371600" lvl="3" indent="0">
              <a:buNone/>
            </a:pPr>
            <a:r>
              <a:rPr lang="en-US" sz="2200" dirty="0"/>
              <a:t>    agent any</a:t>
            </a:r>
          </a:p>
          <a:p>
            <a:pPr marL="1371600" lvl="3" indent="0">
              <a:buNone/>
            </a:pPr>
            <a:r>
              <a:rPr lang="en-US" sz="2200" dirty="0"/>
              <a:t>    stages {</a:t>
            </a:r>
          </a:p>
          <a:p>
            <a:pPr marL="1371600" lvl="3" indent="0">
              <a:buNone/>
            </a:pPr>
            <a:r>
              <a:rPr lang="en-US" sz="2200" dirty="0"/>
              <a:t>        stage('Stage Name') {</a:t>
            </a:r>
          </a:p>
          <a:p>
            <a:pPr marL="1371600" lvl="3" indent="0">
              <a:buNone/>
            </a:pPr>
            <a:r>
              <a:rPr lang="en-US" sz="2200" dirty="0"/>
              <a:t>            steps {</a:t>
            </a:r>
          </a:p>
          <a:p>
            <a:pPr marL="1371600" lvl="3" indent="0">
              <a:buNone/>
            </a:pPr>
            <a:r>
              <a:rPr lang="en-US" sz="2200" dirty="0"/>
              <a:t>                // Commands to execute</a:t>
            </a:r>
          </a:p>
          <a:p>
            <a:pPr marL="1371600" lvl="3" indent="0">
              <a:buNone/>
            </a:pPr>
            <a:r>
              <a:rPr lang="en-US" sz="2200" dirty="0"/>
              <a:t>                echo 'Executing stage...'</a:t>
            </a:r>
          </a:p>
          <a:p>
            <a:pPr marL="1371600" lvl="3" indent="0">
              <a:buNone/>
            </a:pPr>
            <a:r>
              <a:rPr lang="en-US" sz="2200" dirty="0"/>
              <a:t>            }</a:t>
            </a:r>
          </a:p>
          <a:p>
            <a:pPr marL="1371600" lvl="3" indent="0">
              <a:buNone/>
            </a:pPr>
            <a:r>
              <a:rPr lang="en-US" sz="2200" dirty="0"/>
              <a:t>        }</a:t>
            </a:r>
          </a:p>
          <a:p>
            <a:pPr marL="1371600" lvl="3" indent="0">
              <a:buNone/>
            </a:pPr>
            <a:r>
              <a:rPr lang="en-US" sz="2200" dirty="0"/>
              <a:t>    }</a:t>
            </a:r>
          </a:p>
          <a:p>
            <a:pPr marL="1371600" lvl="3" indent="0">
              <a:buNone/>
            </a:pPr>
            <a:r>
              <a:rPr lang="en-US" sz="2200" dirty="0"/>
              <a:t>    post {</a:t>
            </a:r>
          </a:p>
          <a:p>
            <a:pPr marL="1371600" lvl="3" indent="0">
              <a:buNone/>
            </a:pPr>
            <a:r>
              <a:rPr lang="en-US" sz="2200" dirty="0"/>
              <a:t>success {</a:t>
            </a:r>
          </a:p>
          <a:p>
            <a:pPr marL="1371600" lvl="3" indent="0">
              <a:buNone/>
            </a:pPr>
            <a:r>
              <a:rPr lang="en-US" sz="2200" dirty="0"/>
              <a:t>            echo 'Pipeline executed successfully.'</a:t>
            </a:r>
          </a:p>
          <a:p>
            <a:pPr marL="1371600" lvl="3" indent="0">
              <a:buNone/>
            </a:pPr>
            <a:r>
              <a:rPr lang="en-US" sz="2200" dirty="0"/>
              <a:t>        }</a:t>
            </a:r>
          </a:p>
          <a:p>
            <a:pPr marL="1371600" lvl="3" indent="0">
              <a:buNone/>
            </a:pPr>
            <a:r>
              <a:rPr lang="en-US" sz="2200" dirty="0"/>
              <a:t>        failure {</a:t>
            </a:r>
          </a:p>
          <a:p>
            <a:pPr marL="1371600" lvl="3" indent="0">
              <a:buNone/>
            </a:pPr>
            <a:r>
              <a:rPr lang="en-US" sz="2200" dirty="0"/>
              <a:t>            echo 'Pipeline execution failed.'</a:t>
            </a:r>
          </a:p>
          <a:p>
            <a:pPr marL="1371600" lvl="3" indent="0">
              <a:buNone/>
            </a:pPr>
            <a:r>
              <a:rPr lang="en-US" sz="2200" dirty="0"/>
              <a:t>        }    } }</a:t>
            </a:r>
          </a:p>
        </p:txBody>
      </p:sp>
    </p:spTree>
    <p:extLst>
      <p:ext uri="{BB962C8B-B14F-4D97-AF65-F5344CB8AC3E}">
        <p14:creationId xmlns:p14="http://schemas.microsoft.com/office/powerpoint/2010/main" val="105476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6431-578E-422A-4CB6-669F9A244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25425"/>
            <a:ext cx="10515600" cy="4351338"/>
          </a:xfrm>
        </p:spPr>
        <p:txBody>
          <a:bodyPr>
            <a:noAutofit/>
          </a:bodyPr>
          <a:lstStyle/>
          <a:p>
            <a:r>
              <a:rPr lang="en-US" sz="2200" b="1" dirty="0"/>
              <a:t>Components of the Pipeline</a:t>
            </a:r>
            <a:endParaRPr lang="en-US" sz="2200" dirty="0"/>
          </a:p>
          <a:p>
            <a:pPr lvl="0"/>
            <a:r>
              <a:rPr lang="en-US" sz="2200" b="1" dirty="0"/>
              <a:t>pipeline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The root block that defines the entire pipeline. </a:t>
            </a:r>
          </a:p>
          <a:p>
            <a:pPr lvl="0"/>
            <a:r>
              <a:rPr lang="en-US" sz="2200" b="1" dirty="0"/>
              <a:t>agent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Specifies where the pipeline should run. </a:t>
            </a:r>
          </a:p>
          <a:p>
            <a:pPr lvl="1"/>
            <a:r>
              <a:rPr lang="en-US" sz="2200" dirty="0"/>
              <a:t>Example: </a:t>
            </a:r>
          </a:p>
          <a:p>
            <a:pPr lvl="2"/>
            <a:r>
              <a:rPr lang="en-US" sz="2200" dirty="0"/>
              <a:t>agent any – Runs on any available Jenkins agent. </a:t>
            </a:r>
          </a:p>
          <a:p>
            <a:pPr lvl="0"/>
            <a:r>
              <a:rPr lang="en-US" sz="2200" b="1" dirty="0"/>
              <a:t>stages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Groups the major phases of the pipeline. </a:t>
            </a:r>
          </a:p>
          <a:p>
            <a:pPr lvl="0"/>
            <a:r>
              <a:rPr lang="en-US" sz="2200" b="1" dirty="0"/>
              <a:t>stage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Represents a single phase of the process, such as Build, Test, or Deploy. </a:t>
            </a:r>
          </a:p>
          <a:p>
            <a:pPr lvl="0"/>
            <a:r>
              <a:rPr lang="en-US" sz="2200" b="1" dirty="0"/>
              <a:t>steps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Contains the actual commands executed within a stage. </a:t>
            </a:r>
          </a:p>
          <a:p>
            <a:pPr lvl="0"/>
            <a:r>
              <a:rPr lang="en-US" sz="2200" b="1" dirty="0"/>
              <a:t>echo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Prints a message to the Jenkins console output.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6488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C8E73-5DE9-0EC7-D10B-4351D1C4B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EE7EA-7273-B382-E614-A8C690F87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jar cfm factorial.jar manifest.txt Factorial.class</a:t>
            </a:r>
          </a:p>
          <a:p>
            <a:pPr lvl="0"/>
            <a:r>
              <a:rPr lang="en-US" dirty="0"/>
              <a:t>jar → Java Archive tool. </a:t>
            </a:r>
          </a:p>
          <a:p>
            <a:pPr lvl="0"/>
            <a:r>
              <a:rPr lang="en-US" dirty="0"/>
              <a:t>c → Create a new JAR file. </a:t>
            </a:r>
          </a:p>
          <a:p>
            <a:pPr lvl="0"/>
            <a:r>
              <a:rPr lang="en-US" dirty="0"/>
              <a:t>f → Specify the output JAR file name. </a:t>
            </a:r>
          </a:p>
          <a:p>
            <a:pPr lvl="0"/>
            <a:r>
              <a:rPr lang="en-US" dirty="0"/>
              <a:t>m → Include a custom manifest file. </a:t>
            </a:r>
          </a:p>
          <a:p>
            <a:pPr lvl="0"/>
            <a:r>
              <a:rPr lang="en-US" dirty="0"/>
              <a:t>factorial.jar → The output JAR file. </a:t>
            </a:r>
          </a:p>
          <a:p>
            <a:pPr lvl="0"/>
            <a:r>
              <a:rPr lang="en-US" dirty="0"/>
              <a:t>manifest.txt → The manifest file. </a:t>
            </a:r>
          </a:p>
          <a:p>
            <a:pPr lvl="0"/>
            <a:r>
              <a:rPr lang="en-US" dirty="0" err="1"/>
              <a:t>Factorial.class</a:t>
            </a:r>
            <a:r>
              <a:rPr lang="en-US" dirty="0"/>
              <a:t> → The compiled Java class to include.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61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88CF-1D89-2461-653F-DC9B0B79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2C91-72AC-7517-9396-D87C01557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manifest</a:t>
            </a:r>
            <a:r>
              <a:rPr lang="en-US" dirty="0"/>
              <a:t> is a metadata file stored inside a JAR</a:t>
            </a:r>
          </a:p>
          <a:p>
            <a:r>
              <a:rPr lang="en-US" dirty="0"/>
              <a:t>It contains information about the JAR, especially the </a:t>
            </a:r>
            <a:r>
              <a:rPr lang="en-US" b="1" dirty="0"/>
              <a:t>Main-Class</a:t>
            </a:r>
            <a:r>
              <a:rPr lang="en-US" dirty="0"/>
              <a:t>, which tells Java which class to execute when you run:</a:t>
            </a:r>
          </a:p>
        </p:txBody>
      </p:sp>
    </p:spTree>
    <p:extLst>
      <p:ext uri="{BB962C8B-B14F-4D97-AF65-F5344CB8AC3E}">
        <p14:creationId xmlns:p14="http://schemas.microsoft.com/office/powerpoint/2010/main" val="3667367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DBC0-4816-6655-C3FC-BB980B3A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AEED5-D361-FC82-BB1E-5B1AC26E7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archiveArtifacts</a:t>
            </a:r>
            <a:r>
              <a:rPr lang="en-US" dirty="0"/>
              <a:t> artifacts: 'factorial.jar’</a:t>
            </a:r>
          </a:p>
          <a:p>
            <a:r>
              <a:rPr lang="en-US"/>
              <a:t>is a </a:t>
            </a:r>
            <a:r>
              <a:rPr lang="en-US" b="1"/>
              <a:t>Jenkins Pipeline step</a:t>
            </a:r>
            <a:r>
              <a:rPr lang="en-US"/>
              <a:t> that tells Jenkins to </a:t>
            </a:r>
            <a:r>
              <a:rPr lang="en-US" b="1"/>
              <a:t>save (archive) the specified file as a build artifact</a:t>
            </a:r>
            <a:r>
              <a:rPr lang="en-US"/>
              <a:t> after the build completes.</a:t>
            </a:r>
          </a:p>
        </p:txBody>
      </p:sp>
    </p:spTree>
    <p:extLst>
      <p:ext uri="{BB962C8B-B14F-4D97-AF65-F5344CB8AC3E}">
        <p14:creationId xmlns:p14="http://schemas.microsoft.com/office/powerpoint/2010/main" val="2489331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459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V.Usha</dc:creator>
  <cp:lastModifiedBy>V.Usha</cp:lastModifiedBy>
  <cp:revision>2</cp:revision>
  <dcterms:created xsi:type="dcterms:W3CDTF">2026-08-07T16:51:47Z</dcterms:created>
  <dcterms:modified xsi:type="dcterms:W3CDTF">2026-08-07T17:33:19Z</dcterms:modified>
</cp:coreProperties>
</file>